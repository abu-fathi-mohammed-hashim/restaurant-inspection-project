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82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81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4332">
              <a:alpha val="85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FOOD SAFETY PULSE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 Recommendations for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Targeted Enforcement &amp; Public Health Campaigns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291840"/>
            <a:ext cx="201168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3291840"/>
            <a:ext cx="21945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D.I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2016-2025 Inspection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0" y="10058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Avg. Violation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(Most Recent Year)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3246120"/>
            <a:ext cx="164592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score = worse 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Covers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results from 2016 </a:t>
            </a:r>
            <a:r>
              <a:rPr lang="en-US" sz="130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2025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inspection trends over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violation scores by zip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differences across cuisine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high-risk areas to guide smarter enforcement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1219368"/>
            <a:ext cx="8092440" cy="2890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Microsoft Excel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Power BI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Figma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02BD9402-D4C5-43DB-AC28-F1AB826C0D99}"/>
              </a:ext>
            </a:extLst>
          </p:cNvPr>
          <p:cNvSpPr/>
          <p:nvPr/>
        </p:nvSpPr>
        <p:spPr>
          <a:xfrm>
            <a:off x="5943600" y="10058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Graphic 13" descr="Robot with solid fill">
            <a:extLst>
              <a:ext uri="{FF2B5EF4-FFF2-40B4-BE49-F238E27FC236}">
                <a16:creationId xmlns:a16="http://schemas.microsoft.com/office/drawing/2014/main" id="{CF49DCD1-336D-4410-82F7-622E31EE7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1351253"/>
            <a:ext cx="2509574" cy="2509574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636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– ZIP CODES WITH HIGHEST VIOLATION SCORES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659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10179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35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480185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0584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11428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34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260604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331720"/>
            <a:ext cx="1437894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0584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1772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33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331720"/>
            <a:ext cx="1395603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00584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11239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32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690372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331720"/>
            <a:ext cx="1353312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8036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11420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004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32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206240"/>
            <a:ext cx="135331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68880" y="288036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246888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31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260604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4206240"/>
            <a:ext cx="1311021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288036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1772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11432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6177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31</a:t>
            </a:r>
            <a:endParaRPr lang="en-US" sz="2800" dirty="0"/>
          </a:p>
        </p:txBody>
      </p:sp>
      <p:sp>
        <p:nvSpPr>
          <p:cNvPr id="52" name="Shape 50"/>
          <p:cNvSpPr/>
          <p:nvPr/>
        </p:nvSpPr>
        <p:spPr>
          <a:xfrm>
            <a:off x="475488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4206240"/>
            <a:ext cx="1311021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Manhattan   ■ Brooklyn   ■ Queens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– CUISINE PERFORMANCE &amp; Post-2020 TRENDS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🍛 CUISINE SPOTLIGHT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cuisine has the LOWEST average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inspection score among all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listed cuisine types.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246888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Systematic, repeatable risk 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requiring targeted intervention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26517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FEF9EE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Post-2020 SCORE DECLINE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scores worsened noticeably after 2020.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76272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Pandemic-related staffing shortages &amp; high turnover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routine hygiene practices during adaptation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enforcement capacity during lockdowns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Post-2020 recovery across the city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858768"/>
            <a:ext cx="3657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High-violation zones show slower or no improvement vs better-performing areas.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– TARGETED INSPECTIONS &amp; TRAINING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 Inspections in High-Risk Zip Codes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Target 7 zip codes: 10179(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Calibri" pitchFamily="34" charset="-122"/>
                <a:cs typeface="Calibri Light" panose="020F0302020204030204" pitchFamily="34" charset="0"/>
              </a:rPr>
              <a:t>MANHATTAN)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11428(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11219(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), 11239(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11420(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 11218(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11432(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Deploy unannounced follow-up inspections at 2× normal frequency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Prioritize C/D grade establishments for immediate re-inspection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04288"/>
            <a:ext cx="502920" cy="1207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42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Food Safety Training – Bangladeshi Cuisine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039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Culturally tailored training materials in Bengali: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Temperature control for cooked and stored foods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Cross-contamination prevention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Consistent hand hygiene practices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Free workshops + voluntary training completion badge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48456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48456"/>
            <a:ext cx="5029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48456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216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Post-2020 Recovery Gaps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07822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Investigate why scores worsened in certain zones more than others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Provide subsidized compliance consulting for small businesses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Focus support on high-violation areas with slowest recovery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– PUBLIC HEALTH CAMPAIGNS &amp; POLICY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374904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Multilingual Public Health Campaigns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Focus on Brooklyn &amp; Queens — the two boroughs containing the majority of low-scoring zip codes.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Languages: Spanish, Bengali &amp; Chinese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Free digital self-inspection checklists for restaurant owners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Target most frequently cited violations per borough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Emphasis on proactive correction before official inspections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60520" cy="374904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960120"/>
            <a:ext cx="41605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Stricter Enforcement &amp; Policy Reform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43560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 Monitoring Zone Designation: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3+ consecutive years of poor scores → quarterly inspections (vs. annual)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Repeat critical violations trigger increased fines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Fast-Track Corrective Action Plan: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Reduced penalties for completing advanced food safety manager certification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Balance 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enforcement with incentive-based improvement pathway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>
              <a:alpha val="8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CALL 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005840"/>
            <a:ext cx="36576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303520" cy="26517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violations concentrate in specific Brooklyn &amp; Queens zip codes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 cuisine shows a systematic, repeatable risk pattern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Post-2020 score decline demands targeted recovery support — not blanket enforcement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Data-informed, culturally specific interventions are essential for lasting improvement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8346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MONITORING ZONES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5361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Zip codes 10179 (</a:t>
            </a:r>
            <a:r>
              <a:rPr lang="en-US" sz="1200" kern="0" spc="2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MANHATTAN)</a:t>
            </a: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&amp; 11219 (</a:t>
            </a:r>
            <a:r>
              <a:rPr lang="en-US" sz="1200" kern="0" spc="2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BROOKLYN)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Within the next 6 months</a:t>
            </a:r>
            <a:endParaRPr lang="en-US" sz="12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2514600"/>
            <a:ext cx="28346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514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TRAINING PILOT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8620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Food safety training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Bangladeshi cuisine — within 90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action, the same underperforming areas will continue to drive NYC's average violation score upward — risking public health through preventable foodborne illnesses.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582</Words>
  <Application>Microsoft Office PowerPoint</Application>
  <PresentationFormat>On-screen Show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Food Safety Pulse</dc:title>
  <dc:subject>PptxGenJS Presentation</dc:subject>
  <dc:creator>PptxGenJS</dc:creator>
  <cp:lastModifiedBy>KOSTOL</cp:lastModifiedBy>
  <cp:revision>14</cp:revision>
  <dcterms:created xsi:type="dcterms:W3CDTF">2026-05-14T15:02:06Z</dcterms:created>
  <dcterms:modified xsi:type="dcterms:W3CDTF">2026-05-15T18:15:11Z</dcterms:modified>
</cp:coreProperties>
</file>